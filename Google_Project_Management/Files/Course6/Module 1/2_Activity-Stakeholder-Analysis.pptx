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C05D11-81C4-4C84-A7C9-929C15F2CB27}">
  <a:tblStyle styleId="{90C05D11-81C4-4C84-A7C9-929C15F2CB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455395c9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455395c98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bd6139be6a_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bd6139be6a_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230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>
            <p:extLst>
              <p:ext uri="{D42A27DB-BD31-4B8C-83A1-F6EECF244321}">
                <p14:modId xmlns:p14="http://schemas.microsoft.com/office/powerpoint/2010/main" val="2536727280"/>
              </p:ext>
            </p:extLst>
          </p:nvPr>
        </p:nvGraphicFramePr>
        <p:xfrm>
          <a:off x="157113" y="550375"/>
          <a:ext cx="8804550" cy="4373860"/>
        </p:xfrm>
        <a:graphic>
          <a:graphicData uri="http://schemas.openxmlformats.org/drawingml/2006/table">
            <a:tbl>
              <a:tblPr>
                <a:noFill/>
                <a:tableStyleId>{90C05D11-81C4-4C84-A7C9-929C15F2CB27}</a:tableStyleId>
              </a:tblPr>
              <a:tblGrid>
                <a:gridCol w="1799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0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11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666666"/>
                          </a:solidFill>
                        </a:rPr>
                        <a:t>Stakeholder</a:t>
                      </a:r>
                      <a:endParaRPr sz="1200" b="1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666666"/>
                          </a:solidFill>
                        </a:rPr>
                        <a:t>Role </a:t>
                      </a:r>
                      <a:endParaRPr sz="1200" b="1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666666"/>
                          </a:solidFill>
                        </a:rPr>
                        <a:t>Power (H/M/L)</a:t>
                      </a:r>
                      <a:endParaRPr sz="1200" b="1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666666"/>
                          </a:solidFill>
                        </a:rPr>
                        <a:t>Interest (H/M/L)</a:t>
                      </a:r>
                      <a:endParaRPr sz="1200" b="1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666666"/>
                          </a:solidFill>
                        </a:rPr>
                        <a:t>Notes</a:t>
                      </a:r>
                      <a:endParaRPr sz="1200" b="1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Omar Mubarak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Owner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666666"/>
                          </a:solidFill>
                        </a:rPr>
                        <a:t>H</a:t>
                      </a:r>
                      <a:endParaRPr sz="900" b="1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666666"/>
                          </a:solidFill>
                        </a:rPr>
                        <a:t>H</a:t>
                      </a:r>
                      <a:endParaRPr sz="900" b="1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Deanna Coleman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Director of Operations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666666"/>
                          </a:solidFill>
                        </a:rPr>
                        <a:t>H</a:t>
                      </a:r>
                      <a:endParaRPr sz="900" b="1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666666"/>
                          </a:solidFill>
                        </a:rPr>
                        <a:t>H</a:t>
                      </a:r>
                      <a:endParaRPr sz="900" b="1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Carter Ward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Executive Chef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666666"/>
                          </a:solidFill>
                        </a:rPr>
                        <a:t>H</a:t>
                      </a:r>
                      <a:endParaRPr sz="900" b="1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666666"/>
                          </a:solidFill>
                        </a:rPr>
                        <a:t>H</a:t>
                      </a:r>
                      <a:endParaRPr sz="900" b="1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Gilly Tyson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Manager (North)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666666"/>
                          </a:solidFill>
                        </a:rPr>
                        <a:t>M</a:t>
                      </a:r>
                      <a:endParaRPr sz="900" b="1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666666"/>
                          </a:solidFill>
                        </a:rPr>
                        <a:t>H</a:t>
                      </a:r>
                      <a:endParaRPr sz="900" b="1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Alex Schmidt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Manager (Downtown)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666666"/>
                          </a:solidFill>
                        </a:rPr>
                        <a:t>M</a:t>
                      </a:r>
                      <a:endParaRPr sz="900" b="1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666666"/>
                          </a:solidFill>
                        </a:rPr>
                        <a:t>M</a:t>
                      </a:r>
                      <a:endParaRPr sz="900" b="1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Nia Williams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Manager (Waterfront)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666666"/>
                          </a:solidFill>
                        </a:rPr>
                        <a:t>L</a:t>
                      </a:r>
                      <a:endParaRPr sz="900" b="1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666666"/>
                          </a:solidFill>
                        </a:rPr>
                        <a:t>M</a:t>
                      </a:r>
                      <a:endParaRPr sz="900" b="1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Zane Dutchman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Kitchen Manager (North)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666666"/>
                          </a:solidFill>
                        </a:rPr>
                        <a:t>L</a:t>
                      </a:r>
                      <a:endParaRPr sz="900" b="1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666666"/>
                          </a:solidFill>
                        </a:rPr>
                        <a:t>M</a:t>
                      </a:r>
                      <a:endParaRPr sz="900" b="1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Larissa Stein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Kitchen Manager (Downtown)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666666"/>
                          </a:solidFill>
                        </a:rPr>
                        <a:t>L</a:t>
                      </a:r>
                      <a:endParaRPr sz="900" b="1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666666"/>
                          </a:solidFill>
                        </a:rPr>
                        <a:t>M</a:t>
                      </a:r>
                      <a:endParaRPr sz="900" b="1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Seydou Diallo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Restaurant Technology Consultant</a:t>
                      </a: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666666"/>
                          </a:solidFill>
                        </a:rPr>
                        <a:t>L</a:t>
                      </a:r>
                      <a:endParaRPr sz="900" b="1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666666"/>
                          </a:solidFill>
                        </a:rPr>
                        <a:t>M</a:t>
                      </a:r>
                      <a:endParaRPr sz="900" b="1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5" name="Google Shape;55;p13"/>
          <p:cNvSpPr txBox="1"/>
          <p:nvPr/>
        </p:nvSpPr>
        <p:spPr>
          <a:xfrm>
            <a:off x="760350" y="34341"/>
            <a:ext cx="76233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45818E"/>
                </a:solidFill>
                <a:highlight>
                  <a:srgbClr val="FFFFFF"/>
                </a:highlight>
              </a:rPr>
              <a:t>Stakeholder Analysis</a:t>
            </a:r>
            <a:endParaRPr sz="1800" b="1">
              <a:solidFill>
                <a:srgbClr val="45818E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2824888" y="581998"/>
            <a:ext cx="2817600" cy="18681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lt1"/>
                </a:solidFill>
              </a:rPr>
              <a:t>Keep satisfied (high priority)</a:t>
            </a:r>
            <a:endParaRPr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FFFFFF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5642483" y="581998"/>
            <a:ext cx="2817600" cy="18681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</a:rPr>
              <a:t>Manage closely (high effort)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2824888" y="2450233"/>
            <a:ext cx="2817600" cy="18681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</a:rPr>
              <a:t>Monitor (minimum effort)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642483" y="2450233"/>
            <a:ext cx="2817600" cy="18681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666666"/>
                </a:solidFill>
              </a:rPr>
              <a:t>Show consideration</a:t>
            </a:r>
            <a:endParaRPr b="1">
              <a:solidFill>
                <a:srgbClr val="666666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 rot="-5400000">
            <a:off x="1267475" y="2314375"/>
            <a:ext cx="1677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Power</a:t>
            </a:r>
            <a:endParaRPr sz="1600">
              <a:solidFill>
                <a:srgbClr val="434343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1553788" y="478648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high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553788" y="4084038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low</a:t>
            </a:r>
            <a:endParaRPr>
              <a:solidFill>
                <a:srgbClr val="CCCCCC"/>
              </a:solidFill>
            </a:endParaRPr>
          </a:p>
        </p:txBody>
      </p:sp>
      <p:cxnSp>
        <p:nvCxnSpPr>
          <p:cNvPr id="67" name="Google Shape;67;p14"/>
          <p:cNvCxnSpPr/>
          <p:nvPr/>
        </p:nvCxnSpPr>
        <p:spPr>
          <a:xfrm rot="10800000">
            <a:off x="2526443" y="869463"/>
            <a:ext cx="0" cy="1476600"/>
          </a:xfrm>
          <a:prstGeom prst="straightConnector1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68;p14"/>
          <p:cNvCxnSpPr/>
          <p:nvPr/>
        </p:nvCxnSpPr>
        <p:spPr>
          <a:xfrm>
            <a:off x="2526443" y="2571306"/>
            <a:ext cx="0" cy="1542900"/>
          </a:xfrm>
          <a:prstGeom prst="straightConnector1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" name="Google Shape;69;p14"/>
          <p:cNvSpPr txBox="1"/>
          <p:nvPr/>
        </p:nvSpPr>
        <p:spPr>
          <a:xfrm>
            <a:off x="5164688" y="4250781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med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7806913" y="4254272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high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2526438" y="4254272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low</a:t>
            </a:r>
            <a:endParaRPr>
              <a:solidFill>
                <a:srgbClr val="CCCCCC"/>
              </a:solidFill>
            </a:endParaRPr>
          </a:p>
        </p:txBody>
      </p:sp>
      <p:cxnSp>
        <p:nvCxnSpPr>
          <p:cNvPr id="72" name="Google Shape;72;p14"/>
          <p:cNvCxnSpPr>
            <a:stCxn id="69" idx="3"/>
          </p:cNvCxnSpPr>
          <p:nvPr/>
        </p:nvCxnSpPr>
        <p:spPr>
          <a:xfrm>
            <a:off x="6171788" y="4422231"/>
            <a:ext cx="1840200" cy="0"/>
          </a:xfrm>
          <a:prstGeom prst="straightConnector1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" name="Google Shape;73;p14"/>
          <p:cNvCxnSpPr>
            <a:stCxn id="69" idx="1"/>
            <a:endCxn id="71" idx="3"/>
          </p:cNvCxnSpPr>
          <p:nvPr/>
        </p:nvCxnSpPr>
        <p:spPr>
          <a:xfrm flipH="1">
            <a:off x="3450788" y="4422231"/>
            <a:ext cx="1713900" cy="3600"/>
          </a:xfrm>
          <a:prstGeom prst="straightConnector1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4" name="Google Shape;74;p14"/>
          <p:cNvSpPr/>
          <p:nvPr/>
        </p:nvSpPr>
        <p:spPr>
          <a:xfrm>
            <a:off x="3300638" y="1031164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dirty="0">
                <a:solidFill>
                  <a:srgbClr val="FFFFFF"/>
                </a:solidFill>
              </a:rPr>
              <a:t>Omar</a:t>
            </a:r>
            <a:endParaRPr sz="900" b="1" dirty="0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dirty="0">
                <a:solidFill>
                  <a:srgbClr val="FFFFFF"/>
                </a:solidFill>
              </a:rPr>
              <a:t>Owner</a:t>
            </a:r>
            <a:endParaRPr sz="600" b="1" dirty="0">
              <a:solidFill>
                <a:srgbClr val="FFFFFF"/>
              </a:solidFill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164875" y="80400"/>
            <a:ext cx="1360200" cy="783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Drag each stakeholder’s box to the appropriate place on the power-interest grid</a:t>
            </a:r>
            <a:endParaRPr sz="1300"/>
          </a:p>
        </p:txBody>
      </p:sp>
      <p:sp>
        <p:nvSpPr>
          <p:cNvPr id="76" name="Google Shape;76;p14"/>
          <p:cNvSpPr/>
          <p:nvPr/>
        </p:nvSpPr>
        <p:spPr>
          <a:xfrm>
            <a:off x="5935201" y="1031164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Deanna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Director of Operations</a:t>
            </a:r>
            <a:endParaRPr sz="600" b="1">
              <a:solidFill>
                <a:srgbClr val="FFFFFF"/>
              </a:solidFill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7112821" y="1031164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Carter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Exec. Chef</a:t>
            </a:r>
            <a:endParaRPr sz="600" b="1">
              <a:solidFill>
                <a:srgbClr val="FFFFFF"/>
              </a:solidFill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5935201" y="1742467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dirty="0">
                <a:solidFill>
                  <a:srgbClr val="FFFFFF"/>
                </a:solidFill>
              </a:rPr>
              <a:t>Gilly</a:t>
            </a:r>
            <a:endParaRPr sz="900" b="1" dirty="0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dirty="0">
                <a:solidFill>
                  <a:srgbClr val="FFFFFF"/>
                </a:solidFill>
              </a:rPr>
              <a:t>GM - North</a:t>
            </a:r>
            <a:endParaRPr sz="600" b="1" dirty="0">
              <a:solidFill>
                <a:srgbClr val="FFFFFF"/>
              </a:solidFill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3118766" y="3504531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dirty="0">
                <a:solidFill>
                  <a:srgbClr val="FFFFFF"/>
                </a:solidFill>
              </a:rPr>
              <a:t>Alex</a:t>
            </a:r>
            <a:endParaRPr sz="900" b="1" dirty="0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dirty="0">
                <a:solidFill>
                  <a:srgbClr val="FFFFFF"/>
                </a:solidFill>
              </a:rPr>
              <a:t>GM - Downtown</a:t>
            </a:r>
            <a:endParaRPr sz="600" b="1" dirty="0">
              <a:solidFill>
                <a:srgbClr val="FFFFFF"/>
              </a:solidFill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6588338" y="2998056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dirty="0">
                <a:solidFill>
                  <a:srgbClr val="FFFFFF"/>
                </a:solidFill>
              </a:rPr>
              <a:t>Zane</a:t>
            </a:r>
            <a:endParaRPr sz="900" b="1" dirty="0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dirty="0">
                <a:solidFill>
                  <a:srgbClr val="FFFFFF"/>
                </a:solidFill>
              </a:rPr>
              <a:t>Kitchen Manager - North</a:t>
            </a:r>
            <a:endParaRPr sz="600" b="1" dirty="0">
              <a:solidFill>
                <a:srgbClr val="FFFFFF"/>
              </a:solidFill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5100273" y="3794157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Larissa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Kitchen Manager - Downtown</a:t>
            </a:r>
            <a:endParaRPr sz="600" b="1">
              <a:solidFill>
                <a:srgbClr val="FFFFFF"/>
              </a:solidFill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6699695" y="3589134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Seydou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Restaurant Consultant</a:t>
            </a:r>
            <a:endParaRPr sz="600" b="1">
              <a:solidFill>
                <a:srgbClr val="FFFFFF"/>
              </a:solidFill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4948738" y="4529725"/>
            <a:ext cx="1360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Interest</a:t>
            </a:r>
            <a:endParaRPr sz="1600">
              <a:solidFill>
                <a:srgbClr val="434343"/>
              </a:solidFill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2215500" y="2247775"/>
            <a:ext cx="62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med</a:t>
            </a:r>
            <a:endParaRPr sz="1600">
              <a:solidFill>
                <a:srgbClr val="CCCCCC"/>
              </a:solidFill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3118766" y="2917448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dirty="0">
                <a:solidFill>
                  <a:srgbClr val="FFFFFF"/>
                </a:solidFill>
              </a:rPr>
              <a:t>Nia</a:t>
            </a:r>
            <a:endParaRPr sz="900" b="1" dirty="0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dirty="0">
                <a:solidFill>
                  <a:srgbClr val="FFFFFF"/>
                </a:solidFill>
              </a:rPr>
              <a:t>General Manager - Waterfront</a:t>
            </a:r>
            <a:endParaRPr sz="6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166</Words>
  <Application>Microsoft Office PowerPoint</Application>
  <PresentationFormat>On-screen Show (16:9)</PresentationFormat>
  <Paragraphs>73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Madankumar Angusamy</cp:lastModifiedBy>
  <cp:revision>4</cp:revision>
  <dcterms:modified xsi:type="dcterms:W3CDTF">2025-07-30T19:09:37Z</dcterms:modified>
</cp:coreProperties>
</file>