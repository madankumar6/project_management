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4F9EB2-DFE2-45E5-B44C-3D5F68BCB2B2}">
  <a:tblStyle styleId="{4E4F9EB2-DFE2-45E5-B44C-3D5F68BCB2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234627cd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d234627cd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234627cd3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d234627cd3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61b9f62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e61b9f62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e61b9f62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e61b9f62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e61b9f623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e61b9f623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5"/>
          <p:cNvGraphicFramePr/>
          <p:nvPr>
            <p:extLst>
              <p:ext uri="{D42A27DB-BD31-4B8C-83A1-F6EECF244321}">
                <p14:modId xmlns:p14="http://schemas.microsoft.com/office/powerpoint/2010/main" val="1448912571"/>
              </p:ext>
            </p:extLst>
          </p:nvPr>
        </p:nvGraphicFramePr>
        <p:xfrm>
          <a:off x="0" y="426325"/>
          <a:ext cx="9143975" cy="4717175"/>
        </p:xfrm>
        <a:graphic>
          <a:graphicData uri="http://schemas.openxmlformats.org/drawingml/2006/table">
            <a:tbl>
              <a:tblPr>
                <a:noFill/>
                <a:tableStyleId>{4E4F9EB2-DFE2-45E5-B44C-3D5F68BCB2B2}</a:tableStyleId>
              </a:tblPr>
              <a:tblGrid>
                <a:gridCol w="112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8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2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strike="noStrike" cap="none"/>
                        <a:t>Stakeholder</a:t>
                      </a:r>
                      <a:endParaRPr sz="800" u="none" strike="noStrike" cap="none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Role (Related to project)</a:t>
                      </a:r>
                      <a:endParaRPr sz="8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Involvement</a:t>
                      </a:r>
                      <a:endParaRPr sz="8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Impact</a:t>
                      </a:r>
                      <a:endParaRPr sz="11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/>
                        <a:t>Power or Influence (H/M/L)</a:t>
                      </a: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/>
                        <a:t>Interest (H/M/L)</a:t>
                      </a:r>
                      <a:endParaRPr sz="1000" u="none" strike="noStrike" cap="none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Engagement</a:t>
                      </a:r>
                      <a:endParaRPr sz="8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dirty="0"/>
                        <a:t>Director of Product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dirty="0"/>
                        <a:t>Project sponsor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H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M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Weekly, periodically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dirty="0"/>
                        <a:t>Landscape Designer/Web Designer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dirty="0"/>
                        <a:t>Project team member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H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H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Daily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/>
                        <a:t>Existing clients and their employees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dirty="0"/>
                        <a:t>Office Green employee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L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H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Weekly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dirty="0"/>
                        <a:t>Office Green’s investors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dirty="0"/>
                        <a:t>Office Green customer 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H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M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dirty="0"/>
                        <a:t>Periodically, General Updates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dirty="0"/>
                        <a:t>Office Green’s receptionist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000" u="none" strike="noStrike" cap="none" dirty="0"/>
                        <a:t>Secondary stakeholder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L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L</a:t>
                      </a:r>
                      <a:endParaRPr sz="1000" u="none" strike="noStrike" cap="none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/>
                        <a:t>General Updates</a:t>
                      </a:r>
                      <a:endParaRPr sz="1000" dirty="0"/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" name="Google Shape;100;p25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285F4"/>
                </a:solidFill>
                <a:highlight>
                  <a:schemeClr val="lt1"/>
                </a:highlight>
              </a:rPr>
              <a:t>Understanding stakeholders (stakeholder analysis)</a:t>
            </a:r>
            <a:endParaRPr sz="2000" b="1">
              <a:solidFill>
                <a:srgbClr val="4285F4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Keep satisfied (high priority)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06" name="Google Shape;106;p26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Manage closely (high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Monitor (minimum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09" name="Google Shape;109;p26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6AA84F"/>
                </a:solidFill>
              </a:rPr>
              <a:t>Power</a:t>
            </a:r>
            <a:endParaRPr sz="1600" b="1" i="0" u="none" strike="noStrike" cap="none">
              <a:solidFill>
                <a:srgbClr val="6AA84F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112" name="Google Shape;112;p26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26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4" name="Google Shape;114;p26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117" name="Google Shape;117;p26"/>
          <p:cNvCxnSpPr>
            <a:stCxn id="114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26"/>
          <p:cNvCxnSpPr>
            <a:stCxn id="114" idx="1"/>
            <a:endCxn id="116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" name="Google Shape;119;p26"/>
          <p:cNvSpPr txBox="1"/>
          <p:nvPr/>
        </p:nvSpPr>
        <p:spPr>
          <a:xfrm>
            <a:off x="-1005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285F4"/>
                </a:solidFill>
              </a:rPr>
              <a:t>Prioritizing </a:t>
            </a:r>
            <a:r>
              <a:rPr lang="en" sz="2000" b="1">
                <a:solidFill>
                  <a:srgbClr val="4285F4"/>
                </a:solidFill>
              </a:rPr>
              <a:t>s</a:t>
            </a:r>
            <a:r>
              <a:rPr lang="en" sz="2000" b="1" i="0" u="none" strike="noStrike" cap="none">
                <a:solidFill>
                  <a:srgbClr val="4285F4"/>
                </a:solidFill>
              </a:rPr>
              <a:t>takeholders (power grid)</a:t>
            </a:r>
            <a:endParaRPr sz="1400" b="1" i="0" u="none" strike="noStrike" cap="none">
              <a:solidFill>
                <a:srgbClr val="4285F4"/>
              </a:solidFill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3480145" y="1560300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Director of Product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21" name="Google Shape;121;p26"/>
          <p:cNvSpPr/>
          <p:nvPr/>
        </p:nvSpPr>
        <p:spPr>
          <a:xfrm>
            <a:off x="7091601" y="3336821"/>
            <a:ext cx="756900" cy="3429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Investors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22" name="Google Shape;122;p26"/>
          <p:cNvSpPr/>
          <p:nvPr/>
        </p:nvSpPr>
        <p:spPr>
          <a:xfrm>
            <a:off x="6111938" y="3816089"/>
            <a:ext cx="879600" cy="342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Clients &amp; Employees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23" name="Google Shape;123;p26"/>
          <p:cNvSpPr/>
          <p:nvPr/>
        </p:nvSpPr>
        <p:spPr>
          <a:xfrm>
            <a:off x="3366146" y="3428400"/>
            <a:ext cx="924300" cy="342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Receptionist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24" name="Google Shape;124;p26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25" name="Google Shape;125;p26"/>
          <p:cNvSpPr/>
          <p:nvPr/>
        </p:nvSpPr>
        <p:spPr>
          <a:xfrm>
            <a:off x="190600" y="932913"/>
            <a:ext cx="1773900" cy="880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Drag each stakeholder’s box to the appropriate place on the power-interest grid</a:t>
            </a:r>
            <a:endParaRPr/>
          </a:p>
        </p:txBody>
      </p:sp>
      <p:sp>
        <p:nvSpPr>
          <p:cNvPr id="126" name="Google Shape;126;p26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27" name="Google Shape;127;p26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u="none" strike="noStrike" cap="none">
              <a:solidFill>
                <a:srgbClr val="666666"/>
              </a:solidFill>
            </a:endParaRPr>
          </a:p>
        </p:txBody>
      </p:sp>
      <p:sp>
        <p:nvSpPr>
          <p:cNvPr id="128" name="Google Shape;128;p26"/>
          <p:cNvSpPr/>
          <p:nvPr/>
        </p:nvSpPr>
        <p:spPr>
          <a:xfrm>
            <a:off x="6290202" y="1344750"/>
            <a:ext cx="988650" cy="4311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Landscape Designer/Web Designer</a:t>
            </a:r>
            <a:endParaRPr sz="9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28;p26"/>
          <p:cNvSpPr/>
          <p:nvPr/>
        </p:nvSpPr>
        <p:spPr>
          <a:xfrm>
            <a:off x="583225" y="2387844"/>
            <a:ext cx="988650" cy="4311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Landscape Designer/Web Designer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34" name="Google Shape;134;p27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Keep satisfied (high priority)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Manage closely (high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Monitor (minimum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37" name="Google Shape;137;p27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38" name="Google Shape;138;p27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endParaRPr sz="1600" b="0" i="0" u="none" strike="noStrike" cap="non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p27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2" name="Google Shape;142;p27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3" name="Google Shape;143;p27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146" name="Google Shape;146;p27"/>
          <p:cNvCxnSpPr>
            <a:stCxn id="143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27"/>
          <p:cNvCxnSpPr>
            <a:stCxn id="143" idx="1"/>
            <a:endCxn id="145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8" name="Google Shape;148;p27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Investors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Clients &amp; Employees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Receptionist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54" name="Google Shape;154;p27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med</a:t>
            </a:r>
            <a:endParaRPr sz="15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285F4"/>
                </a:solidFill>
              </a:rPr>
              <a:t>Prioritizing </a:t>
            </a:r>
            <a:r>
              <a:rPr lang="en" sz="2000" b="1">
                <a:solidFill>
                  <a:srgbClr val="4285F4"/>
                </a:solidFill>
              </a:rPr>
              <a:t>s</a:t>
            </a:r>
            <a:r>
              <a:rPr lang="en" sz="2000" b="1" i="0" u="none" strike="noStrike" cap="none">
                <a:solidFill>
                  <a:srgbClr val="4285F4"/>
                </a:solidFill>
              </a:rPr>
              <a:t>takeholders (power grid)</a:t>
            </a:r>
            <a:endParaRPr sz="1400" b="1" i="0" u="none" strike="noStrike" cap="none">
              <a:solidFill>
                <a:srgbClr val="4285F4"/>
              </a:solidFill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316791" y="503700"/>
            <a:ext cx="8795700" cy="4639800"/>
          </a:xfrm>
          <a:prstGeom prst="rect">
            <a:avLst/>
          </a:prstGeom>
          <a:solidFill>
            <a:srgbClr val="FFFFFF">
              <a:alpha val="8652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28;p26"/>
          <p:cNvSpPr/>
          <p:nvPr/>
        </p:nvSpPr>
        <p:spPr>
          <a:xfrm>
            <a:off x="583225" y="2387844"/>
            <a:ext cx="988650" cy="4311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Landscape Designer/Web Designer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Keep satisfied (high priority)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Manage closely (high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Monitor (minimum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76" name="Google Shape;176;p28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endParaRPr sz="1600" b="0" i="0" u="none" strike="noStrike" cap="non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179;p28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28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1" name="Google Shape;181;p28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184" name="Google Shape;184;p28"/>
          <p:cNvCxnSpPr>
            <a:stCxn id="181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28"/>
          <p:cNvCxnSpPr>
            <a:stCxn id="181" idx="1"/>
            <a:endCxn id="183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6" name="Google Shape;186;p28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Investors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Clients &amp; Employees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Receptionist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91" name="Google Shape;191;p28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92" name="Google Shape;192;p28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med</a:t>
            </a:r>
            <a:endParaRPr sz="15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285F4"/>
                </a:solidFill>
              </a:rPr>
              <a:t>Prioritizing </a:t>
            </a:r>
            <a:r>
              <a:rPr lang="en" sz="2000" b="1">
                <a:solidFill>
                  <a:srgbClr val="4285F4"/>
                </a:solidFill>
              </a:rPr>
              <a:t>s</a:t>
            </a:r>
            <a:r>
              <a:rPr lang="en" sz="2000" b="1" i="0" u="none" strike="noStrike" cap="none">
                <a:solidFill>
                  <a:srgbClr val="4285F4"/>
                </a:solidFill>
              </a:rPr>
              <a:t>takeholders (power grid)</a:t>
            </a:r>
            <a:endParaRPr sz="1400" b="1" i="0" u="none" strike="noStrike" cap="none">
              <a:solidFill>
                <a:srgbClr val="4285F4"/>
              </a:solidFill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338400" y="499044"/>
            <a:ext cx="8795700" cy="4639800"/>
          </a:xfrm>
          <a:prstGeom prst="rect">
            <a:avLst/>
          </a:prstGeom>
          <a:solidFill>
            <a:srgbClr val="FFFFFF">
              <a:alpha val="8652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2887900" y="10459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28;p26"/>
          <p:cNvSpPr/>
          <p:nvPr/>
        </p:nvSpPr>
        <p:spPr>
          <a:xfrm>
            <a:off x="583225" y="2387844"/>
            <a:ext cx="988650" cy="43110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dirty="0">
                <a:solidFill>
                  <a:srgbClr val="FFFFFF"/>
                </a:solidFill>
              </a:rPr>
              <a:t>Landscape Designer/Web Designer</a:t>
            </a: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Keep satisfied (high priority)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Manage closely (high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666666"/>
                </a:solidFill>
              </a:rPr>
              <a:t>Monitor (minimum effort)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15" name="Google Shape;215;p29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Power</a:t>
            </a:r>
            <a:endParaRPr sz="1600" b="0" i="0" u="none" strike="noStrike" cap="none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  <a:endParaRPr sz="14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9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0" name="Google Shape;220;p29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666666"/>
                </a:solidFill>
              </a:rPr>
              <a:t>med</a:t>
            </a:r>
            <a:endParaRPr sz="15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high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666666"/>
                </a:solidFill>
              </a:rPr>
              <a:t>low</a:t>
            </a:r>
            <a:endParaRPr sz="1400" b="1" i="0" u="none" strike="noStrike" cap="none">
              <a:solidFill>
                <a:srgbClr val="666666"/>
              </a:solidFill>
            </a:endParaRPr>
          </a:p>
        </p:txBody>
      </p:sp>
      <p:cxnSp>
        <p:nvCxnSpPr>
          <p:cNvPr id="223" name="Google Shape;223;p29"/>
          <p:cNvCxnSpPr>
            <a:stCxn id="220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29"/>
          <p:cNvCxnSpPr>
            <a:stCxn id="220" idx="1"/>
            <a:endCxn id="222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5" name="Google Shape;225;p29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Investors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Clients &amp; Employees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OG Receptionist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30" name="Google Shape;230;p29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231" name="Google Shape;231;p29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med</a:t>
            </a:r>
            <a:endParaRPr sz="1500" b="0" i="0" u="none" strike="noStrike" cap="non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285F4"/>
                </a:solidFill>
              </a:rPr>
              <a:t>Prioritizing </a:t>
            </a:r>
            <a:r>
              <a:rPr lang="en" sz="2000" b="1">
                <a:solidFill>
                  <a:srgbClr val="4285F4"/>
                </a:solidFill>
              </a:rPr>
              <a:t>s</a:t>
            </a:r>
            <a:r>
              <a:rPr lang="en" sz="2000" b="1" i="0" u="none" strike="noStrike" cap="none">
                <a:solidFill>
                  <a:srgbClr val="4285F4"/>
                </a:solidFill>
              </a:rPr>
              <a:t>takeholders (power grid)</a:t>
            </a:r>
            <a:endParaRPr sz="1400" b="1" i="0" u="none" strike="noStrike" cap="none">
              <a:solidFill>
                <a:srgbClr val="4285F4"/>
              </a:solidFill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282971" y="499044"/>
            <a:ext cx="8795700" cy="4639800"/>
          </a:xfrm>
          <a:prstGeom prst="rect">
            <a:avLst/>
          </a:prstGeom>
          <a:solidFill>
            <a:srgbClr val="FFFFFF">
              <a:alpha val="8652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9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666666"/>
              </a:solidFill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2887900" y="104598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4823925" y="2056238"/>
            <a:ext cx="8088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Director of Product</a:t>
            </a:r>
            <a:endParaRPr sz="9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369</Words>
  <Application>Microsoft Office PowerPoint</Application>
  <PresentationFormat>On-screen Show (16:9)</PresentationFormat>
  <Paragraphs>115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Roboto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Veneskey</dc:creator>
  <cp:lastModifiedBy>Madankumar Angusamy</cp:lastModifiedBy>
  <cp:revision>5</cp:revision>
  <dcterms:modified xsi:type="dcterms:W3CDTF">2025-05-01T12:43:10Z</dcterms:modified>
</cp:coreProperties>
</file>